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6" r:id="rId4"/>
    <p:sldId id="266" r:id="rId5"/>
    <p:sldId id="262" r:id="rId6"/>
    <p:sldId id="261" r:id="rId7"/>
    <p:sldId id="267" r:id="rId8"/>
    <p:sldId id="259" r:id="rId9"/>
    <p:sldId id="263" r:id="rId10"/>
    <p:sldId id="264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29"/>
  </p:normalViewPr>
  <p:slideViewPr>
    <p:cSldViewPr snapToGrid="0">
      <p:cViewPr varScale="1">
        <p:scale>
          <a:sx n="103" d="100"/>
          <a:sy n="103" d="100"/>
        </p:scale>
        <p:origin x="6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A9E714-F135-A242-1D77-DC65F7F57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8B89CC9-C553-3273-B07F-5C4320206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EE88A80-EF14-5890-1299-3381BC3F5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3AD-E357-4241-829A-9B25CAA3A098}" type="datetimeFigureOut">
              <a:rPr lang="it-IT" smtClean="0"/>
              <a:t>23/02/26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1017D26-5831-7130-F4A3-407105D1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7937DA-CF34-A37D-63EA-B24610F5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F0C-85AF-AD49-B419-80928A68F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9934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16B7F8-9A22-16AB-5554-555FD680B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D0170C-86E4-017B-957A-7922475E5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100D8C-BB9A-4CDD-1C45-D33D6AD53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3AD-E357-4241-829A-9B25CAA3A098}" type="datetimeFigureOut">
              <a:rPr lang="it-IT" smtClean="0"/>
              <a:t>23/02/26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45B2E6-7ECD-B51B-A359-FA5E82185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7B6F65-FBF4-D3C2-5476-5F3131A44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F0C-85AF-AD49-B419-80928A68F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0152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B61C52-0FE6-04B9-22BC-9446469D8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92FA102-0490-E32A-DE11-CE33FE1C6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493A611-FA91-B2F6-E544-739F03BB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3AD-E357-4241-829A-9B25CAA3A098}" type="datetimeFigureOut">
              <a:rPr lang="it-IT" smtClean="0"/>
              <a:t>23/02/26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05032FD-93B1-0138-3CD5-E4A100BF0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271AE5-2F91-7531-6DE9-524EA01FC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F0C-85AF-AD49-B419-80928A68F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167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9E62D4-591A-05C8-C8EC-BE461A7E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6D72AD-E502-96C5-3FEB-55EBAC73C8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5E4B393-17CE-B716-67DB-60FF75367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2CF6D2F-BF90-CBAD-339B-70DDA00F8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3AD-E357-4241-829A-9B25CAA3A098}" type="datetimeFigureOut">
              <a:rPr lang="it-IT" smtClean="0"/>
              <a:t>23/02/26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F18F682-1130-5930-675E-842061DD5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A440775-905B-619A-9F69-6A6964FD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F0C-85AF-AD49-B419-80928A68F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2160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7A5001-DCB3-338A-7BF3-D38D1D7B4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3B93A0-C0EF-CFCF-8BCF-5D5CA7CB0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658DCCB-B9B9-795F-9B6C-916A12CB0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9FA1666-B9D8-D4D1-407E-D549C3B80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A9DA2D8-4CF4-DF25-F21F-BA8877DE3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71D085C-FAC5-F9F6-7276-A5BDA2E5A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3AD-E357-4241-829A-9B25CAA3A098}" type="datetimeFigureOut">
              <a:rPr lang="it-IT" smtClean="0"/>
              <a:t>23/02/26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40C0DCA-5994-6233-647A-A407E1488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3077939-3097-94B5-A3DF-35ABD30D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F0C-85AF-AD49-B419-80928A68F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97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0BF1DA-4CEC-E727-DD56-F680D9A2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3AF473D-2575-4C24-0C2B-EB507A874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3AD-E357-4241-829A-9B25CAA3A098}" type="datetimeFigureOut">
              <a:rPr lang="it-IT" smtClean="0"/>
              <a:t>23/02/26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E588F44-C658-A61B-7942-B14C5272D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6B1CC3E-C08B-CD10-67D3-DB1019B6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F0C-85AF-AD49-B419-80928A68F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5473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D45BBAA-A18F-CAB0-D89A-5768FC672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3AD-E357-4241-829A-9B25CAA3A098}" type="datetimeFigureOut">
              <a:rPr lang="it-IT" smtClean="0"/>
              <a:t>23/02/26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BFEE252-B792-81D5-23E0-A4D5838CD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C4DAEFF-B592-3E01-0762-E64FE358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F0C-85AF-AD49-B419-80928A68F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7957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7BA36C-B562-1C5A-E1B6-D6593C016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605CB6-E88A-724A-F01B-CAFEC16BA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971028-B791-E778-0FBC-B1E813947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41FF524-274A-1C8F-E48C-061DA63AD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3AD-E357-4241-829A-9B25CAA3A098}" type="datetimeFigureOut">
              <a:rPr lang="it-IT" smtClean="0"/>
              <a:t>23/02/26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6DE6039-99C6-CFE3-857D-C9EB78FC6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94FAD05-F210-2DCB-EFB5-18B11C0A4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F0C-85AF-AD49-B419-80928A68F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3285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5A7ED0-E9CC-8D8D-F472-A0DE05271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39E93D-9E43-0F74-4EF6-F396F81C0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2E65A5B-7F47-91E6-DB56-1413204AC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06AB245-0915-ADBF-DC05-1F84FCD57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3AD-E357-4241-829A-9B25CAA3A098}" type="datetimeFigureOut">
              <a:rPr lang="it-IT" smtClean="0"/>
              <a:t>23/02/26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CEADC33-0B47-3C40-B4CD-5D190D794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0FE5EA4-3B99-3540-BA0A-7B430505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F0C-85AF-AD49-B419-80928A68F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9899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218605-F172-255D-7F28-6DA5F6E89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823C142-D6AB-2BBA-798C-867E42BA4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59D714F-6A71-80B4-2388-12F3E4299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3AD-E357-4241-829A-9B25CAA3A098}" type="datetimeFigureOut">
              <a:rPr lang="it-IT" smtClean="0"/>
              <a:t>23/02/26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CF28154-EE57-9CEF-8B6A-ECBACFDB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FDB077-23E3-290D-A032-05115E059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F0C-85AF-AD49-B419-80928A68F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3187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072DF02-16EA-929A-E6D0-65BC78285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8202B0B-DEC0-E13F-3E94-0F1FD13C7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B686E8-89E6-5853-B882-C053DB4C1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3AD-E357-4241-829A-9B25CAA3A098}" type="datetimeFigureOut">
              <a:rPr lang="it-IT" smtClean="0"/>
              <a:t>23/02/26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3C89D6-7CF6-C71E-22B5-059DD73D4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5DD0095-BA15-BF34-567C-E8444AB26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F0C-85AF-AD49-B419-80928A68F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7551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4C22052-5224-712F-4DF9-0C1806D9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080547A-8E19-4F39-C09C-C18F480BB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FC2AA9-3BDA-5262-C093-429AB608A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523AD-E357-4241-829A-9B25CAA3A098}" type="datetimeFigureOut">
              <a:rPr lang="it-IT" smtClean="0"/>
              <a:t>23/02/26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1F8254-56D2-E0BC-376D-A618F60FF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68A3A64-ECCC-8724-900F-5AB209D12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5FF0C-85AF-AD49-B419-80928A68F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372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7B8BB4-33D9-C055-CED3-E5E5475753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Msc</a:t>
            </a:r>
            <a:r>
              <a:rPr lang="it-IT" dirty="0"/>
              <a:t> </a:t>
            </a:r>
            <a:r>
              <a:rPr lang="it-IT" dirty="0" err="1"/>
              <a:t>final</a:t>
            </a:r>
            <a:r>
              <a:rPr lang="it-IT" dirty="0"/>
              <a:t> project: Presentazione 1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15F1931-2828-30E8-E12F-B3999A4F82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20/02/2026</a:t>
            </a:r>
          </a:p>
        </p:txBody>
      </p:sp>
    </p:spTree>
    <p:extLst>
      <p:ext uri="{BB962C8B-B14F-4D97-AF65-F5344CB8AC3E}">
        <p14:creationId xmlns:p14="http://schemas.microsoft.com/office/powerpoint/2010/main" val="4160427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304769-11ED-F1DC-CBF5-97B35F5CC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Workflow of the Thesis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F0471B-9C10-BA45-8696-CA2960CD9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Obsidian</a:t>
            </a:r>
            <a:r>
              <a:rPr lang="it-IT" dirty="0"/>
              <a:t> </a:t>
            </a:r>
            <a:r>
              <a:rPr lang="it-IT" dirty="0" err="1"/>
              <a:t>vault</a:t>
            </a:r>
            <a:r>
              <a:rPr lang="it-IT" dirty="0"/>
              <a:t> to </a:t>
            </a:r>
            <a:r>
              <a:rPr lang="it-IT" dirty="0" err="1"/>
              <a:t>keep</a:t>
            </a:r>
            <a:r>
              <a:rPr lang="it-IT" dirty="0"/>
              <a:t> track of </a:t>
            </a:r>
            <a:r>
              <a:rPr lang="it-IT" dirty="0" err="1"/>
              <a:t>every</a:t>
            </a:r>
            <a:r>
              <a:rPr lang="it-IT" dirty="0"/>
              <a:t> </a:t>
            </a:r>
            <a:r>
              <a:rPr lang="it-IT" dirty="0" err="1"/>
              <a:t>notion</a:t>
            </a:r>
            <a:r>
              <a:rPr lang="it-IT" dirty="0"/>
              <a:t>/photo/</a:t>
            </a:r>
            <a:r>
              <a:rPr lang="it-IT" dirty="0" err="1"/>
              <a:t>citation</a:t>
            </a:r>
            <a:r>
              <a:rPr lang="it-IT" dirty="0"/>
              <a:t>/paper </a:t>
            </a:r>
            <a:r>
              <a:rPr lang="it-IT" dirty="0" err="1"/>
              <a:t>added</a:t>
            </a:r>
            <a:r>
              <a:rPr lang="it-IT" dirty="0"/>
              <a:t> to the project</a:t>
            </a:r>
          </a:p>
          <a:p>
            <a:r>
              <a:rPr lang="it-IT" dirty="0"/>
              <a:t>Still </a:t>
            </a:r>
            <a:r>
              <a:rPr lang="it-IT" dirty="0" err="1"/>
              <a:t>waiting</a:t>
            </a:r>
            <a:r>
              <a:rPr lang="it-IT" dirty="0"/>
              <a:t> for a Laptop and a VPN </a:t>
            </a:r>
          </a:p>
          <a:p>
            <a:r>
              <a:rPr lang="it-IT" dirty="0" err="1"/>
              <a:t>Succesfully</a:t>
            </a:r>
            <a:r>
              <a:rPr lang="it-IT" dirty="0"/>
              <a:t> </a:t>
            </a:r>
            <a:r>
              <a:rPr lang="it-IT" dirty="0" err="1"/>
              <a:t>plotted</a:t>
            </a:r>
            <a:r>
              <a:rPr lang="it-IT" dirty="0"/>
              <a:t> data from HYDRA3 </a:t>
            </a:r>
            <a:r>
              <a:rPr lang="it-IT" dirty="0" err="1"/>
              <a:t>atmospheric</a:t>
            </a:r>
            <a:r>
              <a:rPr lang="it-IT" dirty="0"/>
              <a:t> </a:t>
            </a:r>
            <a:r>
              <a:rPr lang="it-IT" dirty="0" err="1"/>
              <a:t>timeseries</a:t>
            </a:r>
            <a:endParaRPr lang="it-IT" dirty="0"/>
          </a:p>
          <a:p>
            <a:r>
              <a:rPr lang="it-IT" dirty="0" err="1"/>
              <a:t>Succesfully</a:t>
            </a:r>
            <a:r>
              <a:rPr lang="it-IT" dirty="0"/>
              <a:t> </a:t>
            </a:r>
            <a:r>
              <a:rPr lang="it-IT" dirty="0" err="1"/>
              <a:t>plotted</a:t>
            </a:r>
            <a:r>
              <a:rPr lang="it-IT" dirty="0"/>
              <a:t> data from </a:t>
            </a:r>
            <a:r>
              <a:rPr lang="it-IT" dirty="0" err="1"/>
              <a:t>Tidegauges</a:t>
            </a:r>
            <a:r>
              <a:rPr lang="it-IT" dirty="0"/>
              <a:t> </a:t>
            </a:r>
            <a:r>
              <a:rPr lang="it-IT" dirty="0" err="1"/>
              <a:t>timeseries</a:t>
            </a:r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59386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E3F3061B-B8D1-4015-17F5-DA99691A23B4}"/>
              </a:ext>
            </a:extLst>
          </p:cNvPr>
          <p:cNvSpPr txBox="1">
            <a:spLocks/>
          </p:cNvSpPr>
          <p:nvPr/>
        </p:nvSpPr>
        <p:spPr>
          <a:xfrm>
            <a:off x="348785" y="-3416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-IT" dirty="0" err="1"/>
              <a:t>Introduction</a:t>
            </a:r>
            <a:r>
              <a:rPr lang="it-IT" dirty="0"/>
              <a:t> to the </a:t>
            </a:r>
            <a:r>
              <a:rPr lang="it-IT" dirty="0" err="1"/>
              <a:t>problem</a:t>
            </a:r>
            <a:endParaRPr lang="it-IT" dirty="0"/>
          </a:p>
        </p:txBody>
      </p:sp>
      <p:pic>
        <p:nvPicPr>
          <p:cNvPr id="8" name="Immagine 7" descr="Immagine che contiene testo, line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DDCFAFE9-DD57-6999-C260-BD68A0665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41" y="1145616"/>
            <a:ext cx="6057900" cy="49022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4DC3CA63-6E17-443B-E19A-532DE79C6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878" y="2175715"/>
            <a:ext cx="4663950" cy="53918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CCE88A6-5A2F-F122-7D60-A29AEFADAD55}"/>
              </a:ext>
            </a:extLst>
          </p:cNvPr>
          <p:cNvSpPr txBox="1"/>
          <p:nvPr/>
        </p:nvSpPr>
        <p:spPr>
          <a:xfrm>
            <a:off x="6788262" y="2803556"/>
            <a:ext cx="50296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E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discrepancy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the </a:t>
            </a:r>
            <a:r>
              <a:rPr lang="it-IT" dirty="0" err="1"/>
              <a:t>modelled</a:t>
            </a:r>
            <a:r>
              <a:rPr lang="it-IT" dirty="0"/>
              <a:t> DT and the ground- truth </a:t>
            </a:r>
            <a:r>
              <a:rPr lang="it-IT" dirty="0" err="1"/>
              <a:t>sea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8B72A635-5452-73E8-6983-F287065DF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878" y="3754393"/>
            <a:ext cx="4895049" cy="565902"/>
          </a:xfrm>
          <a:prstGeom prst="rect">
            <a:avLst/>
          </a:prstGeom>
        </p:spPr>
      </p:pic>
      <p:cxnSp>
        <p:nvCxnSpPr>
          <p:cNvPr id="16" name="Connettore diritto a freccia 15">
            <a:extLst>
              <a:ext uri="{FF2B5EF4-FFF2-40B4-BE49-F238E27FC236}">
                <a16:creationId xmlns:a16="http://schemas.microsoft.com/office/drawing/2014/main" id="{57A379D3-BF3A-1F87-2719-4129E9B3A950}"/>
              </a:ext>
            </a:extLst>
          </p:cNvPr>
          <p:cNvCxnSpPr>
            <a:cxnSpLocks/>
          </p:cNvCxnSpPr>
          <p:nvPr/>
        </p:nvCxnSpPr>
        <p:spPr>
          <a:xfrm flipH="1">
            <a:off x="7682113" y="4291981"/>
            <a:ext cx="949269" cy="1136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9C3F837-400F-84D8-4FD7-547917362A9A}"/>
              </a:ext>
            </a:extLst>
          </p:cNvPr>
          <p:cNvSpPr txBox="1"/>
          <p:nvPr/>
        </p:nvSpPr>
        <p:spPr>
          <a:xfrm>
            <a:off x="6788263" y="5427996"/>
            <a:ext cx="225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HDM </a:t>
            </a:r>
            <a:r>
              <a:rPr lang="it-IT" dirty="0" err="1"/>
              <a:t>error</a:t>
            </a:r>
            <a:r>
              <a:rPr lang="it-IT" dirty="0"/>
              <a:t> (</a:t>
            </a:r>
            <a:r>
              <a:rPr lang="it-IT" dirty="0" err="1"/>
              <a:t>dinamic</a:t>
            </a:r>
            <a:r>
              <a:rPr lang="it-IT" dirty="0"/>
              <a:t>)</a:t>
            </a:r>
          </a:p>
        </p:txBody>
      </p:sp>
      <p:cxnSp>
        <p:nvCxnSpPr>
          <p:cNvPr id="19" name="Connettore diritto a freccia 18">
            <a:extLst>
              <a:ext uri="{FF2B5EF4-FFF2-40B4-BE49-F238E27FC236}">
                <a16:creationId xmlns:a16="http://schemas.microsoft.com/office/drawing/2014/main" id="{67AD418D-D389-31BA-9628-46FA8F27ABAE}"/>
              </a:ext>
            </a:extLst>
          </p:cNvPr>
          <p:cNvCxnSpPr>
            <a:cxnSpLocks/>
          </p:cNvCxnSpPr>
          <p:nvPr/>
        </p:nvCxnSpPr>
        <p:spPr>
          <a:xfrm>
            <a:off x="10105626" y="4291980"/>
            <a:ext cx="897083" cy="1136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7A374044-E380-4312-345F-0D08405C6C99}"/>
              </a:ext>
            </a:extLst>
          </p:cNvPr>
          <p:cNvSpPr txBox="1"/>
          <p:nvPr/>
        </p:nvSpPr>
        <p:spPr>
          <a:xfrm>
            <a:off x="480289" y="6139952"/>
            <a:ext cx="112314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REFBIAS: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difference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the </a:t>
            </a:r>
            <a:r>
              <a:rPr lang="it-IT" dirty="0" err="1"/>
              <a:t>geopotential</a:t>
            </a:r>
            <a:r>
              <a:rPr lang="it-IT" dirty="0"/>
              <a:t> </a:t>
            </a:r>
            <a:r>
              <a:rPr lang="it-IT" dirty="0" err="1"/>
              <a:t>surface</a:t>
            </a:r>
            <a:r>
              <a:rPr lang="it-IT" dirty="0"/>
              <a:t> of the HDM and a </a:t>
            </a:r>
            <a:r>
              <a:rPr lang="it-IT" dirty="0" err="1"/>
              <a:t>particular</a:t>
            </a:r>
            <a:r>
              <a:rPr lang="it-IT" dirty="0"/>
              <a:t> </a:t>
            </a:r>
            <a:r>
              <a:rPr lang="it-IT" dirty="0" err="1"/>
              <a:t>geoid</a:t>
            </a:r>
            <a:r>
              <a:rPr lang="it-IT" dirty="0"/>
              <a:t> model </a:t>
            </a:r>
            <a:r>
              <a:rPr lang="it-IT" dirty="0" err="1"/>
              <a:t>used</a:t>
            </a:r>
            <a:r>
              <a:rPr lang="it-IT" dirty="0"/>
              <a:t> for the </a:t>
            </a:r>
            <a:r>
              <a:rPr lang="it-IT" dirty="0" err="1"/>
              <a:t>observations</a:t>
            </a:r>
            <a:endParaRPr lang="it-IT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C106A031-08A9-A099-6E3E-F65A4EEEB789}"/>
              </a:ext>
            </a:extLst>
          </p:cNvPr>
          <p:cNvSpPr txBox="1"/>
          <p:nvPr/>
        </p:nvSpPr>
        <p:spPr>
          <a:xfrm>
            <a:off x="9047019" y="5416911"/>
            <a:ext cx="3199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Vertical </a:t>
            </a:r>
            <a:r>
              <a:rPr lang="it-IT" dirty="0" err="1"/>
              <a:t>reference</a:t>
            </a:r>
            <a:r>
              <a:rPr lang="it-IT" dirty="0"/>
              <a:t> </a:t>
            </a:r>
            <a:r>
              <a:rPr lang="it-IT" dirty="0" err="1"/>
              <a:t>error</a:t>
            </a:r>
            <a:r>
              <a:rPr lang="it-IT" dirty="0"/>
              <a:t> </a:t>
            </a:r>
            <a:r>
              <a:rPr lang="it-IT" dirty="0">
                <a:sym typeface="Wingdings" pitchFamily="2" charset="2"/>
              </a:rPr>
              <a:t>(</a:t>
            </a:r>
            <a:r>
              <a:rPr lang="it-IT" dirty="0" err="1">
                <a:sym typeface="Wingdings" pitchFamily="2" charset="2"/>
              </a:rPr>
              <a:t>static</a:t>
            </a:r>
            <a:r>
              <a:rPr lang="it-IT" dirty="0">
                <a:sym typeface="Wingdings" pitchFamily="2" charset="2"/>
              </a:rPr>
              <a:t>)</a:t>
            </a:r>
            <a:endParaRPr lang="it-IT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769BCE02-8897-63A1-3447-D371F14B6068}"/>
              </a:ext>
            </a:extLst>
          </p:cNvPr>
          <p:cNvSpPr txBox="1"/>
          <p:nvPr/>
        </p:nvSpPr>
        <p:spPr>
          <a:xfrm>
            <a:off x="7438393" y="1648425"/>
            <a:ext cx="5029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DINAMIC TOPOGRAPHY (from </a:t>
            </a:r>
            <a:r>
              <a:rPr lang="it-IT" b="1" dirty="0" err="1"/>
              <a:t>TGs</a:t>
            </a:r>
            <a:r>
              <a:rPr lang="it-IT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84632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86F21B-A1FF-CAA7-58CC-9FD26D8A9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22EA16-9208-C780-3CE4-C540CCBC5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68" y="1690687"/>
            <a:ext cx="8220456" cy="4802187"/>
          </a:xfrm>
        </p:spPr>
        <p:txBody>
          <a:bodyPr>
            <a:normAutofit fontScale="40000" lnSpcReduction="20000"/>
          </a:bodyPr>
          <a:lstStyle/>
          <a:p>
            <a:r>
              <a:rPr lang="it-IT" sz="5100" dirty="0" err="1"/>
              <a:t>Meteorological</a:t>
            </a:r>
            <a:r>
              <a:rPr lang="it-IT" sz="5100" dirty="0"/>
              <a:t> data  (</a:t>
            </a:r>
            <a:r>
              <a:rPr lang="it-IT" sz="5100" dirty="0" err="1"/>
              <a:t>NetCDF</a:t>
            </a:r>
            <a:r>
              <a:rPr lang="it-IT" sz="5100" dirty="0"/>
              <a:t>)</a:t>
            </a:r>
          </a:p>
          <a:p>
            <a:pPr lvl="2">
              <a:buFontTx/>
              <a:buChar char="-"/>
            </a:pPr>
            <a:r>
              <a:rPr lang="it-IT" sz="5100" b="1" dirty="0"/>
              <a:t>2013-2024 </a:t>
            </a:r>
          </a:p>
          <a:p>
            <a:pPr lvl="2">
              <a:buFontTx/>
              <a:buChar char="-"/>
            </a:pPr>
            <a:r>
              <a:rPr lang="it-IT" sz="5100" b="1" dirty="0" err="1"/>
              <a:t>Spatial</a:t>
            </a:r>
            <a:r>
              <a:rPr lang="it-IT" sz="5100" b="1" dirty="0"/>
              <a:t> </a:t>
            </a:r>
            <a:r>
              <a:rPr lang="it-IT" sz="5100" b="1" dirty="0" err="1"/>
              <a:t>resolution</a:t>
            </a:r>
            <a:r>
              <a:rPr lang="it-IT" sz="5100" b="1" dirty="0"/>
              <a:t>: 2.5km </a:t>
            </a:r>
            <a:r>
              <a:rPr lang="it-IT" sz="5100" b="1" dirty="0" err="1"/>
              <a:t>resolution</a:t>
            </a:r>
            <a:r>
              <a:rPr lang="it-IT" sz="5100" b="1" dirty="0"/>
              <a:t> (10m wind, SLP)</a:t>
            </a:r>
          </a:p>
          <a:p>
            <a:pPr lvl="2">
              <a:buFontTx/>
              <a:buChar char="-"/>
            </a:pPr>
            <a:r>
              <a:rPr lang="it-IT" sz="5100" b="1" dirty="0" err="1"/>
              <a:t>Temporal</a:t>
            </a:r>
            <a:r>
              <a:rPr lang="it-IT" sz="5100" b="1" dirty="0"/>
              <a:t> </a:t>
            </a:r>
            <a:r>
              <a:rPr lang="it-IT" sz="5100" b="1" dirty="0" err="1"/>
              <a:t>resolution</a:t>
            </a:r>
            <a:r>
              <a:rPr lang="it-IT" sz="5100" b="1" dirty="0"/>
              <a:t>: </a:t>
            </a:r>
            <a:r>
              <a:rPr lang="it-IT" sz="5100" b="1" dirty="0" err="1"/>
              <a:t>Hourly</a:t>
            </a:r>
            <a:endParaRPr lang="it-IT" sz="5100" b="1" dirty="0"/>
          </a:p>
          <a:p>
            <a:pPr marL="914400" lvl="2" indent="0">
              <a:buNone/>
            </a:pPr>
            <a:r>
              <a:rPr lang="it-IT" sz="5100" dirty="0"/>
              <a:t> </a:t>
            </a:r>
          </a:p>
          <a:p>
            <a:r>
              <a:rPr lang="it-IT" sz="5100" dirty="0" err="1"/>
              <a:t>tidal</a:t>
            </a:r>
            <a:r>
              <a:rPr lang="it-IT" sz="5100" dirty="0"/>
              <a:t> gauge </a:t>
            </a:r>
            <a:r>
              <a:rPr lang="it-IT" sz="5100" dirty="0" err="1"/>
              <a:t>observation</a:t>
            </a:r>
            <a:r>
              <a:rPr lang="it-IT" sz="5100" dirty="0"/>
              <a:t> data (CSV)</a:t>
            </a:r>
          </a:p>
          <a:p>
            <a:pPr marL="0" indent="0">
              <a:buNone/>
            </a:pPr>
            <a:r>
              <a:rPr lang="it-IT" sz="5100" dirty="0"/>
              <a:t>	- </a:t>
            </a:r>
            <a:r>
              <a:rPr lang="it-IT" sz="5100" b="1" dirty="0" err="1"/>
              <a:t>Temporal</a:t>
            </a:r>
            <a:r>
              <a:rPr lang="it-IT" sz="5100" b="1" dirty="0"/>
              <a:t> </a:t>
            </a:r>
            <a:r>
              <a:rPr lang="it-IT" sz="5100" b="1" dirty="0" err="1"/>
              <a:t>resolution</a:t>
            </a:r>
            <a:r>
              <a:rPr lang="it-IT" sz="5100" dirty="0"/>
              <a:t>: </a:t>
            </a:r>
            <a:r>
              <a:rPr lang="it-IT" sz="5100" b="1" dirty="0"/>
              <a:t>10 minutes</a:t>
            </a:r>
            <a:endParaRPr lang="it-IT" sz="5100" dirty="0"/>
          </a:p>
          <a:p>
            <a:pPr marL="0" indent="0">
              <a:buNone/>
            </a:pPr>
            <a:r>
              <a:rPr lang="it-IT" sz="5100" dirty="0"/>
              <a:t>	- </a:t>
            </a:r>
            <a:r>
              <a:rPr lang="it-IT" sz="5100" b="1" dirty="0"/>
              <a:t>2013-01-01 → 2023-01-01</a:t>
            </a:r>
          </a:p>
          <a:p>
            <a:pPr marL="0" indent="0">
              <a:buNone/>
            </a:pPr>
            <a:endParaRPr lang="it-IT" sz="5100" dirty="0"/>
          </a:p>
          <a:p>
            <a:r>
              <a:rPr lang="it-IT" sz="5100" dirty="0" err="1"/>
              <a:t>Modelled</a:t>
            </a:r>
            <a:r>
              <a:rPr lang="it-IT" sz="5100" dirty="0"/>
              <a:t> </a:t>
            </a:r>
            <a:r>
              <a:rPr lang="it-IT" sz="5100" dirty="0" err="1"/>
              <a:t>sea</a:t>
            </a:r>
            <a:r>
              <a:rPr lang="it-IT" sz="5100" dirty="0"/>
              <a:t> </a:t>
            </a:r>
            <a:r>
              <a:rPr lang="it-IT" sz="5100" dirty="0" err="1"/>
              <a:t>level</a:t>
            </a:r>
            <a:r>
              <a:rPr lang="it-IT" sz="5100" dirty="0"/>
              <a:t> data in western </a:t>
            </a:r>
            <a:r>
              <a:rPr lang="it-IT" sz="5100" dirty="0" err="1"/>
              <a:t>Baltic</a:t>
            </a:r>
            <a:r>
              <a:rPr lang="it-IT" sz="5100" dirty="0"/>
              <a:t> Sea (</a:t>
            </a:r>
            <a:r>
              <a:rPr lang="it-IT" sz="5100" dirty="0" err="1"/>
              <a:t>NetCDF</a:t>
            </a:r>
            <a:r>
              <a:rPr lang="it-IT" sz="5100" dirty="0"/>
              <a:t>)</a:t>
            </a:r>
          </a:p>
          <a:p>
            <a:pPr marL="914400" lvl="2" indent="0">
              <a:buNone/>
            </a:pPr>
            <a:r>
              <a:rPr lang="it-IT" sz="5100" dirty="0"/>
              <a:t>- </a:t>
            </a:r>
            <a:r>
              <a:rPr lang="it-IT" sz="5100" dirty="0" err="1"/>
              <a:t>Run</a:t>
            </a:r>
            <a:r>
              <a:rPr lang="it-IT" sz="5100" dirty="0"/>
              <a:t> </a:t>
            </a:r>
            <a:r>
              <a:rPr lang="it-IT" sz="5100" dirty="0" err="1"/>
              <a:t>every</a:t>
            </a:r>
            <a:r>
              <a:rPr lang="it-IT" sz="5100" dirty="0"/>
              <a:t> 4 hours</a:t>
            </a:r>
          </a:p>
          <a:p>
            <a:pPr marL="457200" lvl="1" indent="0">
              <a:buNone/>
            </a:pPr>
            <a:r>
              <a:rPr lang="it-IT" sz="5100" dirty="0"/>
              <a:t>	</a:t>
            </a:r>
            <a:r>
              <a:rPr lang="it-IT" sz="5100" b="1" dirty="0"/>
              <a:t>- 2013-2026</a:t>
            </a:r>
          </a:p>
          <a:p>
            <a:pPr marL="457200" lvl="1" indent="0">
              <a:buNone/>
            </a:pPr>
            <a:r>
              <a:rPr lang="it-IT" sz="5100" b="1" dirty="0"/>
              <a:t>	- </a:t>
            </a:r>
            <a:r>
              <a:rPr lang="it-IT" sz="5100" b="1" dirty="0" err="1"/>
              <a:t>Spatial</a:t>
            </a:r>
            <a:r>
              <a:rPr lang="it-IT" sz="5100" b="1" dirty="0"/>
              <a:t> </a:t>
            </a:r>
            <a:r>
              <a:rPr lang="it-IT" sz="5100" b="1" dirty="0" err="1"/>
              <a:t>resolution</a:t>
            </a:r>
            <a:r>
              <a:rPr lang="it-IT" sz="5100" b="1" dirty="0"/>
              <a:t>: 0.9 km x 0.9km </a:t>
            </a:r>
          </a:p>
          <a:p>
            <a:pPr marL="457200" lvl="1" indent="0">
              <a:buNone/>
            </a:pPr>
            <a:r>
              <a:rPr lang="it-IT" sz="5100" b="1" dirty="0"/>
              <a:t>SA</a:t>
            </a:r>
          </a:p>
          <a:p>
            <a:pPr marL="457200" lvl="1" indent="0">
              <a:buNone/>
            </a:pPr>
            <a:endParaRPr lang="it-IT" sz="5100" b="1" dirty="0"/>
          </a:p>
          <a:p>
            <a:pPr marL="457200" lvl="1" indent="0">
              <a:buNone/>
            </a:pPr>
            <a:endParaRPr lang="it-IT" sz="5100" b="1" dirty="0"/>
          </a:p>
          <a:p>
            <a:endParaRPr lang="it-IT" dirty="0"/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27328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84EC44-3061-56D1-D852-ECEE5990A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it-IT" dirty="0"/>
              <a:t>DK TIDAL GAUGES STATIONS</a:t>
            </a:r>
          </a:p>
        </p:txBody>
      </p:sp>
      <p:pic>
        <p:nvPicPr>
          <p:cNvPr id="5" name="Immagine 4" descr="Immagine che contiene mappa, testo, atlante, diagramma&#10;&#10;Il contenuto generato dall'IA potrebbe non essere corretto.">
            <a:extLst>
              <a:ext uri="{FF2B5EF4-FFF2-40B4-BE49-F238E27FC236}">
                <a16:creationId xmlns:a16="http://schemas.microsoft.com/office/drawing/2014/main" id="{D3204C3B-B313-9678-1E47-8E5CA2580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661" y="1022962"/>
            <a:ext cx="8338678" cy="538678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B092660-1A41-37A2-3D01-5C69DF947020}"/>
              </a:ext>
            </a:extLst>
          </p:cNvPr>
          <p:cNvSpPr txBox="1"/>
          <p:nvPr/>
        </p:nvSpPr>
        <p:spPr>
          <a:xfrm>
            <a:off x="540327" y="6225082"/>
            <a:ext cx="9975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Hoping</a:t>
            </a:r>
            <a:r>
              <a:rPr lang="it-IT" dirty="0"/>
              <a:t> to </a:t>
            </a:r>
            <a:r>
              <a:rPr lang="it-IT" dirty="0" err="1"/>
              <a:t>have</a:t>
            </a:r>
            <a:r>
              <a:rPr lang="it-IT" dirty="0"/>
              <a:t> more of </a:t>
            </a:r>
            <a:r>
              <a:rPr lang="it-IT" dirty="0" err="1"/>
              <a:t>them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9887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844B56-3F3D-CCD5-47DE-A55E53B7B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426"/>
            <a:ext cx="10515600" cy="1325563"/>
          </a:xfrm>
        </p:spPr>
        <p:txBody>
          <a:bodyPr/>
          <a:lstStyle/>
          <a:p>
            <a:r>
              <a:rPr lang="it-IT" dirty="0"/>
              <a:t>HYDRA3 </a:t>
            </a:r>
            <a:r>
              <a:rPr lang="it-IT" dirty="0" err="1"/>
              <a:t>atmospheric</a:t>
            </a:r>
            <a:r>
              <a:rPr lang="it-IT" dirty="0"/>
              <a:t> forcing </a:t>
            </a:r>
            <a:r>
              <a:rPr lang="it-IT" dirty="0" err="1"/>
              <a:t>records</a:t>
            </a:r>
            <a:endParaRPr lang="it-IT" dirty="0"/>
          </a:p>
        </p:txBody>
      </p:sp>
      <p:pic>
        <p:nvPicPr>
          <p:cNvPr id="5" name="Segnaposto contenuto 4" descr="Immagine che contiene testo, schermata, mappa&#10;&#10;Il contenuto generato dall'IA potrebbe non essere corretto.">
            <a:extLst>
              <a:ext uri="{FF2B5EF4-FFF2-40B4-BE49-F238E27FC236}">
                <a16:creationId xmlns:a16="http://schemas.microsoft.com/office/drawing/2014/main" id="{2E2D12DF-F688-A6CF-AD47-011152C046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163" y="1055677"/>
            <a:ext cx="7272691" cy="534021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7D1E9CE-AC5B-550A-78FB-7039562829D7}"/>
              </a:ext>
            </a:extLst>
          </p:cNvPr>
          <p:cNvSpPr txBox="1"/>
          <p:nvPr/>
        </p:nvSpPr>
        <p:spPr>
          <a:xfrm>
            <a:off x="8375546" y="1366989"/>
            <a:ext cx="34359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it-IT" dirty="0"/>
              <a:t>Temperature </a:t>
            </a:r>
            <a:r>
              <a:rPr lang="it-IT" dirty="0" err="1"/>
              <a:t>at</a:t>
            </a:r>
            <a:r>
              <a:rPr lang="it-IT" dirty="0"/>
              <a:t> 2m</a:t>
            </a:r>
          </a:p>
          <a:p>
            <a:pPr marL="285750" indent="-285750">
              <a:buFontTx/>
              <a:buChar char="-"/>
            </a:pPr>
            <a:r>
              <a:rPr lang="it-IT" dirty="0" err="1"/>
              <a:t>Northward</a:t>
            </a:r>
            <a:r>
              <a:rPr lang="it-IT" dirty="0"/>
              <a:t> wind </a:t>
            </a:r>
          </a:p>
          <a:p>
            <a:pPr marL="285750" indent="-285750">
              <a:buFontTx/>
              <a:buChar char="-"/>
            </a:pPr>
            <a:r>
              <a:rPr lang="it-IT" dirty="0" err="1"/>
              <a:t>Eastward</a:t>
            </a:r>
            <a:r>
              <a:rPr lang="it-IT" dirty="0"/>
              <a:t> wind</a:t>
            </a:r>
          </a:p>
          <a:p>
            <a:pPr marL="285750" indent="-285750">
              <a:buFontTx/>
              <a:buChar char="-"/>
            </a:pPr>
            <a:r>
              <a:rPr lang="it-IT" dirty="0"/>
              <a:t>SLP</a:t>
            </a:r>
          </a:p>
        </p:txBody>
      </p:sp>
    </p:spTree>
    <p:extLst>
      <p:ext uri="{BB962C8B-B14F-4D97-AF65-F5344CB8AC3E}">
        <p14:creationId xmlns:p14="http://schemas.microsoft.com/office/powerpoint/2010/main" val="3086618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7A7C5E-9EC5-32BA-70C2-3D13F9D5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 SYNERGY</a:t>
            </a:r>
          </a:p>
        </p:txBody>
      </p:sp>
      <p:pic>
        <p:nvPicPr>
          <p:cNvPr id="4" name="Immagine 3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950891BC-9DD3-AE44-FC30-6BF15A674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106" y="1272408"/>
            <a:ext cx="5944108" cy="485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244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27B4C8-6587-BD7C-A91C-40A647882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it-IT" b="1" dirty="0"/>
              <a:t>Input features (from paper)</a:t>
            </a:r>
          </a:p>
        </p:txBody>
      </p:sp>
      <p:pic>
        <p:nvPicPr>
          <p:cNvPr id="7" name="Immagine 6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CD539782-E595-96A5-570D-734FAEA3F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25563"/>
            <a:ext cx="7618268" cy="4775978"/>
          </a:xfrm>
          <a:prstGeom prst="rect">
            <a:avLst/>
          </a:prstGeom>
        </p:spPr>
      </p:pic>
      <p:pic>
        <p:nvPicPr>
          <p:cNvPr id="9" name="Immagine 8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83D9F085-E7EA-E36E-E843-54C5CB343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268" y="1204371"/>
            <a:ext cx="3714750" cy="416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58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4">
            <a:extLst>
              <a:ext uri="{FF2B5EF4-FFF2-40B4-BE49-F238E27FC236}">
                <a16:creationId xmlns:a16="http://schemas.microsoft.com/office/drawing/2014/main" id="{C8298DC8-1222-E22F-F979-0339D001F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551" y="2468157"/>
            <a:ext cx="10950897" cy="88364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41AC7D8-DB29-4291-6E26-10B5FF739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31673"/>
            <a:ext cx="6295657" cy="637886"/>
          </a:xfrm>
          <a:prstGeom prst="rect">
            <a:avLst/>
          </a:prstGeom>
        </p:spPr>
      </p:pic>
      <p:cxnSp>
        <p:nvCxnSpPr>
          <p:cNvPr id="7" name="Connettore diritto a freccia 6">
            <a:extLst>
              <a:ext uri="{FF2B5EF4-FFF2-40B4-BE49-F238E27FC236}">
                <a16:creationId xmlns:a16="http://schemas.microsoft.com/office/drawing/2014/main" id="{F4D85421-D469-41B4-4A7F-739B5B7CE3EE}"/>
              </a:ext>
            </a:extLst>
          </p:cNvPr>
          <p:cNvCxnSpPr/>
          <p:nvPr/>
        </p:nvCxnSpPr>
        <p:spPr>
          <a:xfrm>
            <a:off x="4932218" y="3429000"/>
            <a:ext cx="0" cy="602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F1D0413-509A-077D-15A1-CE57A0FE9D75}"/>
              </a:ext>
            </a:extLst>
          </p:cNvPr>
          <p:cNvSpPr txBox="1"/>
          <p:nvPr/>
        </p:nvSpPr>
        <p:spPr>
          <a:xfrm>
            <a:off x="6927272" y="4165950"/>
            <a:ext cx="4644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(</a:t>
            </a:r>
            <a:r>
              <a:rPr lang="it-IT" dirty="0" err="1"/>
              <a:t>Resonant</a:t>
            </a:r>
            <a:r>
              <a:rPr lang="it-IT" dirty="0"/>
              <a:t> </a:t>
            </a:r>
            <a:r>
              <a:rPr lang="it-IT" dirty="0" err="1"/>
              <a:t>oscillation</a:t>
            </a:r>
            <a:r>
              <a:rPr lang="it-IT" dirty="0"/>
              <a:t>: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effects</a:t>
            </a:r>
            <a:r>
              <a:rPr lang="it-IT" dirty="0"/>
              <a:t> </a:t>
            </a:r>
            <a:r>
              <a:rPr lang="it-IT" dirty="0" err="1"/>
              <a:t>heavily</a:t>
            </a:r>
            <a:r>
              <a:rPr lang="it-IT" dirty="0"/>
              <a:t> </a:t>
            </a:r>
            <a:r>
              <a:rPr lang="it-IT" dirty="0" err="1"/>
              <a:t>rely</a:t>
            </a:r>
            <a:r>
              <a:rPr lang="it-IT" dirty="0"/>
              <a:t> on the </a:t>
            </a:r>
            <a:r>
              <a:rPr lang="it-IT" dirty="0" err="1"/>
              <a:t>geometry</a:t>
            </a:r>
            <a:r>
              <a:rPr lang="it-IT" dirty="0"/>
              <a:t> of the </a:t>
            </a:r>
            <a:r>
              <a:rPr lang="it-IT" dirty="0" err="1"/>
              <a:t>basins</a:t>
            </a:r>
            <a:r>
              <a:rPr lang="it-IT" dirty="0"/>
              <a:t>)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D573CBCF-77CB-96F4-2B5C-729EDC652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it-IT" b="1" dirty="0" err="1"/>
              <a:t>Selected</a:t>
            </a:r>
            <a:r>
              <a:rPr lang="it-IT" b="1" dirty="0"/>
              <a:t> </a:t>
            </a:r>
            <a:r>
              <a:rPr lang="it-IT" b="1" dirty="0" err="1"/>
              <a:t>Hyperparameters</a:t>
            </a:r>
            <a:r>
              <a:rPr lang="it-IT" b="1" dirty="0"/>
              <a:t> (from paper)</a:t>
            </a:r>
          </a:p>
        </p:txBody>
      </p:sp>
    </p:spTree>
    <p:extLst>
      <p:ext uri="{BB962C8B-B14F-4D97-AF65-F5344CB8AC3E}">
        <p14:creationId xmlns:p14="http://schemas.microsoft.com/office/powerpoint/2010/main" val="3361247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EB0393-9186-635C-BC55-0C5DB4BEF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856"/>
            <a:ext cx="10515600" cy="1325563"/>
          </a:xfrm>
        </p:spPr>
        <p:txBody>
          <a:bodyPr/>
          <a:lstStyle/>
          <a:p>
            <a:r>
              <a:rPr lang="it-IT" b="1" dirty="0"/>
              <a:t>Next step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EFCC1BB-C858-A889-91EC-D26EE3D21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057" y="1547508"/>
            <a:ext cx="10816648" cy="458985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743325E-9DEF-5439-F82C-D3E7333A30D2}"/>
              </a:ext>
            </a:extLst>
          </p:cNvPr>
          <p:cNvSpPr txBox="1"/>
          <p:nvPr/>
        </p:nvSpPr>
        <p:spPr>
          <a:xfrm>
            <a:off x="3415145" y="6116785"/>
            <a:ext cx="6220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Frequency </a:t>
            </a:r>
            <a:r>
              <a:rPr lang="it-IT" dirty="0" err="1"/>
              <a:t>contents</a:t>
            </a:r>
            <a:r>
              <a:rPr lang="it-IT" dirty="0"/>
              <a:t> of the </a:t>
            </a:r>
            <a:r>
              <a:rPr lang="it-IT" dirty="0" err="1"/>
              <a:t>corresponding</a:t>
            </a:r>
            <a:r>
              <a:rPr lang="it-IT" dirty="0"/>
              <a:t> </a:t>
            </a:r>
            <a:r>
              <a:rPr lang="it-IT" dirty="0" err="1"/>
              <a:t>signals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51587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238</Words>
  <Application>Microsoft Macintosh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Tema di Office</vt:lpstr>
      <vt:lpstr>Msc final project: Presentazione 1 </vt:lpstr>
      <vt:lpstr>Workflow of the Thesis</vt:lpstr>
      <vt:lpstr>Presentazione standard di PowerPoint</vt:lpstr>
      <vt:lpstr>DATA</vt:lpstr>
      <vt:lpstr>DK TIDAL GAUGES STATIONS</vt:lpstr>
      <vt:lpstr>HYDRA3 atmospheric forcing records</vt:lpstr>
      <vt:lpstr>DATA SYNERGY</vt:lpstr>
      <vt:lpstr>Input features (from paper)</vt:lpstr>
      <vt:lpstr>Selected Hyperparameters (from paper)</vt:lpstr>
      <vt:lpstr>Next step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Caron  Nicolo'</dc:creator>
  <cp:lastModifiedBy>Caron  Nicolo'</cp:lastModifiedBy>
  <cp:revision>2</cp:revision>
  <dcterms:created xsi:type="dcterms:W3CDTF">2026-02-19T13:08:43Z</dcterms:created>
  <dcterms:modified xsi:type="dcterms:W3CDTF">2026-02-23T08:30:26Z</dcterms:modified>
</cp:coreProperties>
</file>